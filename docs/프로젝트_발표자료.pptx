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15분(발표 9분, 시연 4분, 질의응답 2분). 발표 김길동, 시연 이오리, AI 질의응답 박미금, RPA 질의응답 홍기흥.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설문 결과로 '언제 살지' 문제를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이용 흐름 5단계입니다.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실행계획 5단계와 조원별 역할입니다.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Semi-Project 구성을 재사용하고 Gemini와 재학습 배치를 추가했습니다.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 수집과 배치 작업 4종입니다.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피처와 모델, 점수 산식입니다.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환각 방지와 비용·지연 대응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배포 단계 테스트와 성능 개선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시연은 이오리가 진행합니다. 네트워크 지연 시 시연 영상으로 대체합니다.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달성 결과와 향후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 질문: 수집 약관 준수(홍기흥), Gemini 환각 방지(박미금), 예측 오류 책임·AI 비용(박미금·김길동).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533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Final-Project  |  심화_생성형 AI와 AWS 클라우드를 활용한 풀스택 &amp; 자동화 실무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바이타이밍 (BuyTiming)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&amp; RPA 기반 실시간 가격 비교 · 구매 적기 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1280160" cy="64008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3조 · 김길동(조장) · 박미금 · 이오리 · 홍기흥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2026-12-18  프로젝트 발표회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375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749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① RPA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00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6002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② 구매 적기 판정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46888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688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③ Google Gemini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33756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375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테스트와 개선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20624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074920"/>
            <a:ext cx="640080" cy="6400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749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749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성과와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192024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구매 후 가격 하락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구매 직후 가격이 내려가 손해 본 경험 (설문 34명)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3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3" y="1554480"/>
            <a:ext cx="82296" cy="192024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3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3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판단의 어려움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최저가는 알지만 지금 사야 할지는 모르겠다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554480"/>
            <a:ext cx="82296" cy="192024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7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90일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7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 이력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과거 패턴으로 지금이 싼 시점인지 판단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10698480" cy="1097280"/>
          </a:xfrm>
          <a:prstGeom prst="roundRect">
            <a:avLst>
              <a:gd name="adj" fmla="val 15000"/>
            </a:avLst>
          </a:prstGeom>
          <a:solidFill>
            <a:srgbClr val="ED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"어디서 살까"에서 "언제 살까"까지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RPA가 가격을 모으고, 머신러닝이 패턴을 판단하고, Gemini가 쉬운 말로 설명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사용자 여정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103120" cy="73152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등록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1031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관심 상품 등록
목표가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554480"/>
            <a:ext cx="2103120" cy="731520"/>
          </a:xfrm>
          <a:prstGeom prst="roundRect">
            <a:avLst>
              <a:gd name="adj" fmla="val 20000"/>
            </a:avLst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55448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377440"/>
            <a:ext cx="21031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4688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쇼핑몰 3곳
배송비 포함 실구매가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576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RPA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554480"/>
            <a:ext cx="2103120" cy="73152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55448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판정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377440"/>
            <a:ext cx="21031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4688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7일 하락 확률
구매 적기 점수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576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scikit-learn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554480"/>
            <a:ext cx="2103120" cy="731520"/>
          </a:xfrm>
          <a:prstGeom prst="roundRect">
            <a:avLst>
              <a:gd name="adj" fmla="val 20000"/>
            </a:avLst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55448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조언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377440"/>
            <a:ext cx="21031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4688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판정 근거를
자연어로 설명·상담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6576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Google Gemini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554480"/>
            <a:ext cx="2103120" cy="73152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155448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알림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2377440"/>
            <a:ext cx="21031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4688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목표가 도달
오늘의 할인 추천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6576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지금 구매(70점 이상) · 조금 대기(40~69) · 대기 권장(40 미만) · 이력 30일 미만 판단 보류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신뢰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Gemini는 분석 수치만 사용, 응답 숫자 대조 검증으로 환각 0건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2026-11-23 ~ 12-21 · 152시간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146"/>
                <a:gridCol w="2253826"/>
                <a:gridCol w="7171266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담당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김길동 (조장)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백엔드 ·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 관리, FastAPI 22개 API, Render·EC2 배포, CI/CD, 모니터링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박미금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분석 · AI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설계, 판정 피처·RandomForest 모델, Gemini 프롬프트·응답 검증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이오리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프런트엔드 · UI/UX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10개, Bootstrap 5·Plotly, 사용자 테스트, 발표 자료·시연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홍기흥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 · 데이터 수집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쇼핑몰 3곳·참가격 수집, 정제, 재학습·리포트 배치, EC2 cron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</a:tbl>
          </a:graphicData>
        </a:graphic>
      </p:graphicFrame>
      <p:sp>
        <p:nvSpPr>
          <p:cNvPr id="10" name="Pentagon 9"/>
          <p:cNvSpPr/>
          <p:nvPr/>
        </p:nvSpPr>
        <p:spPr>
          <a:xfrm>
            <a:off x="548640" y="3291840"/>
            <a:ext cx="2182307" cy="777240"/>
          </a:xfrm>
          <a:prstGeom prst="homePlate">
            <a:avLst>
              <a:gd name="adj" fmla="val 25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1816547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기획/분석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18230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11/23~11/24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182307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13시간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999427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기획서 · 역할·WBS
위험 · 요구사항
구성도 · 개발 환경</a:t>
            </a:r>
          </a:p>
        </p:txBody>
      </p:sp>
      <p:sp>
        <p:nvSpPr>
          <p:cNvPr id="15" name="Chevron 14"/>
          <p:cNvSpPr/>
          <p:nvPr/>
        </p:nvSpPr>
        <p:spPr>
          <a:xfrm>
            <a:off x="2776667" y="3291840"/>
            <a:ext cx="2182307" cy="777240"/>
          </a:xfrm>
          <a:prstGeom prst="chevron">
            <a:avLst>
              <a:gd name="adj" fmla="val 25000"/>
            </a:avLst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5267" y="3291840"/>
            <a:ext cx="1816547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6667" y="4160520"/>
            <a:ext cx="218230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11/25~11/27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6667" y="4480560"/>
            <a:ext cx="2182307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24시간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8107" y="4846320"/>
            <a:ext cx="1999427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ERD · 화면
API 명세서</a:t>
            </a:r>
          </a:p>
        </p:txBody>
      </p:sp>
      <p:sp>
        <p:nvSpPr>
          <p:cNvPr id="20" name="Chevron 19"/>
          <p:cNvSpPr/>
          <p:nvPr/>
        </p:nvSpPr>
        <p:spPr>
          <a:xfrm>
            <a:off x="5004694" y="3291840"/>
            <a:ext cx="2182307" cy="777240"/>
          </a:xfrm>
          <a:prstGeom prst="chevron">
            <a:avLst>
              <a:gd name="adj" fmla="val 25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3294" y="3291840"/>
            <a:ext cx="1816547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4694" y="4160520"/>
            <a:ext cx="218230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11/30~12/09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4694" y="4480560"/>
            <a:ext cx="2182307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62시간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134" y="4846320"/>
            <a:ext cx="1999427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기능 구현 목록</a:t>
            </a:r>
          </a:p>
        </p:txBody>
      </p:sp>
      <p:sp>
        <p:nvSpPr>
          <p:cNvPr id="25" name="Chevron 24"/>
          <p:cNvSpPr/>
          <p:nvPr/>
        </p:nvSpPr>
        <p:spPr>
          <a:xfrm>
            <a:off x="7232721" y="3291840"/>
            <a:ext cx="2182307" cy="777240"/>
          </a:xfrm>
          <a:prstGeom prst="chevron">
            <a:avLst>
              <a:gd name="adj" fmla="val 25000"/>
            </a:avLst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321" y="3291840"/>
            <a:ext cx="1816547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721" y="4160520"/>
            <a:ext cx="218230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12/10~12/17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721" y="4480560"/>
            <a:ext cx="2182307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46시간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161" y="4846320"/>
            <a:ext cx="1999427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결과서
수정 보완 내역서</a:t>
            </a:r>
          </a:p>
        </p:txBody>
      </p:sp>
      <p:sp>
        <p:nvSpPr>
          <p:cNvPr id="30" name="Chevron 29"/>
          <p:cNvSpPr/>
          <p:nvPr/>
        </p:nvSpPr>
        <p:spPr>
          <a:xfrm>
            <a:off x="9460748" y="3291840"/>
            <a:ext cx="2182307" cy="777240"/>
          </a:xfrm>
          <a:prstGeom prst="chevron">
            <a:avLst>
              <a:gd name="adj" fmla="val 25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9348" y="3291840"/>
            <a:ext cx="1816547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0748" y="4160520"/>
            <a:ext cx="218230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12/18~12/21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0748" y="4480560"/>
            <a:ext cx="2182307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2188" y="4846320"/>
            <a:ext cx="1999427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발표 자료
발표회(12/18)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Render + EC2 + TiDB + Gemini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9" name="Picture 8" descr="6085829e9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1022"/>
            <a:ext cx="7315200" cy="48189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Frontend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HTML5·Vanilla JS·Bootstrap 5·Plotly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Backend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FastAPI (Render)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Database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MySQL 8.x / TiDB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생성형 AI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Google Gemini 2.5 Flash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RPA·배치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3.11.9 수집·재학습 (EC2)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공공데이터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한국소비자원 참가격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① RPA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Python RPA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013"/>
                <a:gridCol w="1566618"/>
                <a:gridCol w="7245608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 내용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BOT-01 가격 수집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매시 정각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쇼핑몰 3곳 공개 상품 페이지(3초 간격) → 품절·이상치 제거 → 실구매가 계산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BOT-02 참가격 수집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06:00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한국소비자원 참가격 공공데이터 → 상품 매칭 → 갱신 (과거 1년 사전 적재)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BOT-03 모델 재학습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03:00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 생성 → 학습·시계열 검증 → 성능이 좋아질 때만 모델 교체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BOT-04 주간 리포트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07:00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관심 상품 가격 변동 집계 → Seaborn 차트 → 엑셀 저장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480560"/>
            <a:ext cx="3547871" cy="1645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80560"/>
            <a:ext cx="82296" cy="164592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9028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97.5%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수집 성공률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3273551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기준 95% 이상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3" y="4480560"/>
            <a:ext cx="3547871" cy="1645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3" y="4480560"/>
            <a:ext cx="82296" cy="164592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3" y="459028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1시간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530352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 갱신 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3" y="5669280"/>
            <a:ext cx="3273551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수집 직후 판정·알림 갱신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7" y="4480560"/>
            <a:ext cx="3547871" cy="1645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7" y="4480560"/>
            <a:ext cx="82296" cy="164592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7" y="459028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300종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530352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관심 상품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7" y="5669280"/>
            <a:ext cx="3273551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× 쇼핑몰 3곳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② 구매 적기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scikit-learn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D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60704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적기 점수 = </a:t>
            </a: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(1 − 7일 내 5% 하락 확률) × 70 + (1 − 90일 가격 백분위) × 30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70점 이상 지금 구매 · 40~69점 조금 대기 · 40점 미만 대기 권장 · 이력 30일 미만 판단 보류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92608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90일 백분위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 90일 중 현재 가격 위치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최저가 대비 비율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현재가 ÷ 90일 최저가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이동평균 괴리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7일·30일 평균 대비 현재가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추세 기울기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30일 회귀 기울기(NumPy)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변동성 · 할인 주기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표준편차, 직전 할인 이후 경과일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06640" y="2926080"/>
            <a:ext cx="4206240" cy="30175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926080"/>
            <a:ext cx="82296" cy="301752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035808"/>
            <a:ext cx="3931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F1 0.79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490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하락 예측 성능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114800"/>
            <a:ext cx="393192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단순 규칙 기준선 0.61 → RandomForest 0.79
시계열 교차 검증(TimeSeriesSplit 5)
중요 피처: 90일 백분위 · 추세 기울기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 ③ Google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gemini-2.5-flash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6309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없는 숫자 생성(환각)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수치만 입력 + 숫자 대조 검증·재요청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7.8% →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형식 불안정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 스키마 구조화 출력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통과율 99.8%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 먼저 표시, 조언 비동기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2.2초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한도·비용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해시 캐싱, 사전 생성, 요청 큐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수 -62%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 강요 표현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지시 + 참고 정보 고지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8e2456989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28639"/>
            <a:ext cx="4663440" cy="37322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테스트와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12/10 ~ 12/17 · v1.0 → v1.1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82296" cy="201168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111건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전체 통과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단위 64 · 통합 40 · 비기능·AI 7 (1차 105건)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278" y="1463040"/>
            <a:ext cx="82296" cy="201168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158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7건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158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결함 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158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주요 5 · 경미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463040"/>
            <a:ext cx="82296" cy="201168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Gemini 수치 불일치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500회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4554" y="1463040"/>
            <a:ext cx="82296" cy="201168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7434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7434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Gemini 호출 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7434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캐싱·사전 생성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3840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274320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30명 부하 오류율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1% 미만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2.9% (Gemini 429)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콜드 스타트 첫 응답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이내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35초 (Render 슬립)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1.2초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Gemini 조언 응답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2.2초 (캐시 0.05초)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약 4분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4630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630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홈: 오늘의 구매 적기 상품과 알림 요약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488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"무선 이어폰" 검색 → 관심 상품·목표가 등록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8346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상품 상세: 쇼핑몰 3곳 실구매가 비교, 90일 가격 추이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5204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204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적기 점수 78점 '지금 구매' → Gemini 구매 조언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062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062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AI 상담: "다음 주까지 기다리면 더 싸질까?"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8920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알림: 목표가 도달 알림 확인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577840"/>
            <a:ext cx="530352" cy="530352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관리자: 수집 성공률 · 모델 F1 · Gemini 사용량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성과와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목표 전 항목 달성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160"/>
                <a:gridCol w="2702560"/>
                <a:gridCol w="106172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결과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6F42C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성공률 95%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 예측 F1 0.75 이상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Gemini 3초 이내 · 환각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2.2초 ·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구현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15개 전체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DE8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품질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30명 오류율 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실결제가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카드·쿠폰 할인 반영 비교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신뢰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판정 사후 적중률 공개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쇼핑몰 공식 제휴 API 확대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F42C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알림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모바일 푸시(PWA)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바이타이밍(BuyTiming) · Final-Project · 3조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